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mbria Bold" charset="1" panose="02040803050406030204"/>
      <p:regular r:id="rId24"/>
    </p:embeddedFont>
    <p:embeddedFont>
      <p:font typeface="Cambria" charset="1" panose="02040503050406030204"/>
      <p:regular r:id="rId25"/>
    </p:embeddedFont>
    <p:embeddedFont>
      <p:font typeface="Calibri (MS)" charset="1" panose="020F0502020204030204"/>
      <p:regular r:id="rId26"/>
    </p:embeddedFont>
    <p:embeddedFont>
      <p:font typeface="Calibri (MS) Bold" charset="1" panose="020F070203040403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4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600700"/>
            <a:ext cx="8749700" cy="4812335"/>
          </a:xfrm>
          <a:custGeom>
            <a:avLst/>
            <a:gdLst/>
            <a:ahLst/>
            <a:cxnLst/>
            <a:rect r="r" b="b" t="t" l="l"/>
            <a:pathLst>
              <a:path h="4812335" w="8749700">
                <a:moveTo>
                  <a:pt x="0" y="0"/>
                </a:moveTo>
                <a:lnTo>
                  <a:pt x="8749700" y="0"/>
                </a:lnTo>
                <a:lnTo>
                  <a:pt x="8749700" y="4812335"/>
                </a:lnTo>
                <a:lnTo>
                  <a:pt x="0" y="481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11382" y="1279907"/>
            <a:ext cx="12498323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EFEFE"/>
                </a:solidFill>
                <a:latin typeface="Cambria Bold"/>
                <a:ea typeface="Cambria Bold"/>
                <a:cs typeface="Cambria Bold"/>
                <a:sym typeface="Cambria Bold"/>
              </a:rPr>
              <a:t>Prediksi Harga Rumah Melbourne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11382" y="3889757"/>
            <a:ext cx="11675154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sz="4399">
                <a:solidFill>
                  <a:srgbClr val="2F2416"/>
                </a:solidFill>
                <a:latin typeface="Cambria"/>
                <a:ea typeface="Cambria"/>
                <a:cs typeface="Cambria"/>
                <a:sym typeface="Cambria"/>
              </a:rPr>
              <a:t>“Analisis EDA, preprocessing, dan regresi linear”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41109" y="8177930"/>
            <a:ext cx="7470967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EFEFE"/>
                </a:solidFill>
                <a:latin typeface="Calibri (MS)"/>
                <a:ea typeface="Calibri (MS)"/>
                <a:cs typeface="Calibri (MS)"/>
                <a:sym typeface="Calibri (MS)"/>
              </a:rPr>
              <a:t>Tim 1 · Machine Learning · 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EFEFE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 Melbourne Housing Snapshot (Kaggle)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41109" y="9225680"/>
            <a:ext cx="700914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799">
                <a:solidFill>
                  <a:srgbClr val="FEFEFE"/>
                </a:solidFill>
                <a:latin typeface="Calibri (MS)"/>
                <a:ea typeface="Calibri (MS)"/>
                <a:cs typeface="Calibri (MS)"/>
                <a:sym typeface="Calibri (MS)"/>
              </a:rPr>
              <a:t>Ummu Badriyah Mualifah_2488010082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4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72275" y="-1026898"/>
            <a:ext cx="16459200" cy="4105425"/>
            <a:chOff x="0" y="0"/>
            <a:chExt cx="21945600" cy="5473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5473900"/>
            </a:xfrm>
            <a:custGeom>
              <a:avLst/>
              <a:gdLst/>
              <a:ahLst/>
              <a:cxnLst/>
              <a:rect r="r" b="b" t="t" l="l"/>
              <a:pathLst>
                <a:path h="54739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473900"/>
                  </a:lnTo>
                  <a:lnTo>
                    <a:pt x="0" y="5473900"/>
                  </a:lnTo>
                  <a:close/>
                </a:path>
              </a:pathLst>
            </a:custGeom>
            <a:solidFill>
              <a:srgbClr val="7C401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548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b="true" sz="5600">
                  <a:solidFill>
                    <a:srgbClr val="FEFEF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Dataset dan Tujuan Analisis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48819" y="2258849"/>
            <a:ext cx="3865883" cy="3042923"/>
            <a:chOff x="0" y="0"/>
            <a:chExt cx="5154511" cy="40572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54422" cy="4057142"/>
            </a:xfrm>
            <a:custGeom>
              <a:avLst/>
              <a:gdLst/>
              <a:ahLst/>
              <a:cxnLst/>
              <a:rect r="r" b="b" t="t" l="l"/>
              <a:pathLst>
                <a:path h="4057142" w="515442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4908550" y="0"/>
                  </a:lnTo>
                  <a:cubicBezTo>
                    <a:pt x="5044313" y="0"/>
                    <a:pt x="5154422" y="110109"/>
                    <a:pt x="5154422" y="245872"/>
                  </a:cubicBezTo>
                  <a:lnTo>
                    <a:pt x="5154422" y="3811270"/>
                  </a:lnTo>
                  <a:cubicBezTo>
                    <a:pt x="5154422" y="3947033"/>
                    <a:pt x="5044313" y="4057142"/>
                    <a:pt x="4908550" y="4057142"/>
                  </a:cubicBezTo>
                  <a:lnTo>
                    <a:pt x="245872" y="4057142"/>
                  </a:lnTo>
                  <a:cubicBezTo>
                    <a:pt x="110109" y="4057269"/>
                    <a:pt x="0" y="3947160"/>
                    <a:pt x="0" y="3811270"/>
                  </a:cubicBezTo>
                  <a:close/>
                </a:path>
              </a:pathLst>
            </a:custGeom>
            <a:solidFill>
              <a:srgbClr val="EEF4F5"/>
            </a:solidFill>
            <a:ln w="25400" cap="sq">
              <a:solidFill>
                <a:srgbClr val="EEF4F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729819" y="2911626"/>
            <a:ext cx="3291840" cy="1371600"/>
            <a:chOff x="0" y="0"/>
            <a:chExt cx="438912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9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438912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b="true" sz="7200">
                  <a:solidFill>
                    <a:srgbClr val="2F24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13.580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818716" y="4216551"/>
            <a:ext cx="165787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baris data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42081" y="2258849"/>
            <a:ext cx="3865883" cy="3042923"/>
            <a:chOff x="0" y="0"/>
            <a:chExt cx="5154511" cy="40572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54422" cy="4057142"/>
            </a:xfrm>
            <a:custGeom>
              <a:avLst/>
              <a:gdLst/>
              <a:ahLst/>
              <a:cxnLst/>
              <a:rect r="r" b="b" t="t" l="l"/>
              <a:pathLst>
                <a:path h="4057142" w="515442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4908550" y="0"/>
                  </a:lnTo>
                  <a:cubicBezTo>
                    <a:pt x="5044313" y="0"/>
                    <a:pt x="5154422" y="110109"/>
                    <a:pt x="5154422" y="245872"/>
                  </a:cubicBezTo>
                  <a:lnTo>
                    <a:pt x="5154422" y="3811270"/>
                  </a:lnTo>
                  <a:cubicBezTo>
                    <a:pt x="5154422" y="3947033"/>
                    <a:pt x="5044313" y="4057142"/>
                    <a:pt x="4908550" y="4057142"/>
                  </a:cubicBezTo>
                  <a:lnTo>
                    <a:pt x="245872" y="4057142"/>
                  </a:lnTo>
                  <a:cubicBezTo>
                    <a:pt x="110109" y="4057269"/>
                    <a:pt x="0" y="3947160"/>
                    <a:pt x="0" y="3811270"/>
                  </a:cubicBezTo>
                  <a:close/>
                </a:path>
              </a:pathLst>
            </a:custGeom>
            <a:solidFill>
              <a:srgbClr val="EEF4F5"/>
            </a:solidFill>
            <a:ln w="25400" cap="sq">
              <a:solidFill>
                <a:srgbClr val="EEF4F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220538" y="2949726"/>
            <a:ext cx="3291840" cy="1371600"/>
            <a:chOff x="0" y="0"/>
            <a:chExt cx="438912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89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38912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b="true" sz="7200">
                  <a:solidFill>
                    <a:srgbClr val="2F24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220538" y="4254651"/>
            <a:ext cx="329184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kolom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335342" y="2258849"/>
            <a:ext cx="3865883" cy="3042923"/>
            <a:chOff x="0" y="0"/>
            <a:chExt cx="5154511" cy="40572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54422" cy="4057142"/>
            </a:xfrm>
            <a:custGeom>
              <a:avLst/>
              <a:gdLst/>
              <a:ahLst/>
              <a:cxnLst/>
              <a:rect r="r" b="b" t="t" l="l"/>
              <a:pathLst>
                <a:path h="4057142" w="515442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4908550" y="0"/>
                  </a:lnTo>
                  <a:cubicBezTo>
                    <a:pt x="5044313" y="0"/>
                    <a:pt x="5154422" y="110109"/>
                    <a:pt x="5154422" y="245872"/>
                  </a:cubicBezTo>
                  <a:lnTo>
                    <a:pt x="5154422" y="3811270"/>
                  </a:lnTo>
                  <a:cubicBezTo>
                    <a:pt x="5154422" y="3947033"/>
                    <a:pt x="5044313" y="4057142"/>
                    <a:pt x="4908550" y="4057142"/>
                  </a:cubicBezTo>
                  <a:lnTo>
                    <a:pt x="245872" y="4057142"/>
                  </a:lnTo>
                  <a:cubicBezTo>
                    <a:pt x="110109" y="4057269"/>
                    <a:pt x="0" y="3947160"/>
                    <a:pt x="0" y="3811270"/>
                  </a:cubicBezTo>
                  <a:close/>
                </a:path>
              </a:pathLst>
            </a:custGeom>
            <a:solidFill>
              <a:srgbClr val="EEF4F5"/>
            </a:solidFill>
            <a:ln w="25400" cap="sq">
              <a:solidFill>
                <a:srgbClr val="EEF4F5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612077" y="1030316"/>
            <a:ext cx="3291840" cy="5283845"/>
            <a:chOff x="0" y="0"/>
            <a:chExt cx="4389120" cy="70451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89120" cy="7045127"/>
            </a:xfrm>
            <a:custGeom>
              <a:avLst/>
              <a:gdLst/>
              <a:ahLst/>
              <a:cxnLst/>
              <a:rect r="r" b="b" t="t" l="l"/>
              <a:pathLst>
                <a:path h="7045127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045127"/>
                  </a:lnTo>
                  <a:lnTo>
                    <a:pt x="0" y="70451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7404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4389120" cy="70641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2F24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Price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717614" y="4254651"/>
            <a:ext cx="329184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Harga Rumah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01703" y="6022343"/>
            <a:ext cx="16484603" cy="3317243"/>
            <a:chOff x="0" y="0"/>
            <a:chExt cx="21979471" cy="44229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79508" cy="4423029"/>
            </a:xfrm>
            <a:custGeom>
              <a:avLst/>
              <a:gdLst/>
              <a:ahLst/>
              <a:cxnLst/>
              <a:rect r="r" b="b" t="t" l="l"/>
              <a:pathLst>
                <a:path h="4423029" w="21979508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21733763" y="0"/>
                  </a:lnTo>
                  <a:cubicBezTo>
                    <a:pt x="21869527" y="0"/>
                    <a:pt x="21979508" y="109982"/>
                    <a:pt x="21979508" y="245745"/>
                  </a:cubicBezTo>
                  <a:lnTo>
                    <a:pt x="21979508" y="4177284"/>
                  </a:lnTo>
                  <a:cubicBezTo>
                    <a:pt x="21979508" y="4313047"/>
                    <a:pt x="21869527" y="4423029"/>
                    <a:pt x="21733763" y="4423029"/>
                  </a:cubicBezTo>
                  <a:lnTo>
                    <a:pt x="245745" y="4423029"/>
                  </a:lnTo>
                  <a:cubicBezTo>
                    <a:pt x="109982" y="4423029"/>
                    <a:pt x="0" y="4312920"/>
                    <a:pt x="0" y="4177284"/>
                  </a:cubicBezTo>
                  <a:close/>
                </a:path>
              </a:pathLst>
            </a:custGeom>
            <a:solidFill>
              <a:srgbClr val="EEF4F5"/>
            </a:solidFill>
            <a:ln w="25400" cap="sq">
              <a:solidFill>
                <a:srgbClr val="EEF4F5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436289" y="6656803"/>
            <a:ext cx="15544800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Tujuan analisis untuk memahami karakteristik data dan membangun baseline model untuk memprediksi Price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Data set yang di gunakan Melbourne Housing Snapshot (Kaggle)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Fitur utama : Rooms, Distance, Bathroom, Car, Landsize, Building Area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18716" y="2425851"/>
            <a:ext cx="242111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Jumlah data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17614" y="2673501"/>
            <a:ext cx="242111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Target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20538" y="2635401"/>
            <a:ext cx="242111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Variabel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7C4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1762" y="1485492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7C401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b="true" sz="5600">
                  <a:solidFill>
                    <a:srgbClr val="FEFEF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EDA 1: struktur data dan missing value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1762" y="3171192"/>
            <a:ext cx="16373076" cy="3944617"/>
            <a:chOff x="0" y="0"/>
            <a:chExt cx="21830768" cy="52594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30588" cy="5259438"/>
            </a:xfrm>
            <a:custGeom>
              <a:avLst/>
              <a:gdLst/>
              <a:ahLst/>
              <a:cxnLst/>
              <a:rect r="r" b="b" t="t" l="l"/>
              <a:pathLst>
                <a:path h="5259438" w="21830588">
                  <a:moveTo>
                    <a:pt x="0" y="142133"/>
                  </a:moveTo>
                  <a:cubicBezTo>
                    <a:pt x="0" y="63654"/>
                    <a:pt x="222309" y="0"/>
                    <a:pt x="496396" y="0"/>
                  </a:cubicBezTo>
                  <a:lnTo>
                    <a:pt x="21334192" y="0"/>
                  </a:lnTo>
                  <a:cubicBezTo>
                    <a:pt x="21608278" y="0"/>
                    <a:pt x="21830588" y="63654"/>
                    <a:pt x="21830588" y="142133"/>
                  </a:cubicBezTo>
                  <a:lnTo>
                    <a:pt x="21830588" y="5117304"/>
                  </a:lnTo>
                  <a:cubicBezTo>
                    <a:pt x="21830588" y="5195784"/>
                    <a:pt x="21608278" y="5259437"/>
                    <a:pt x="21334192" y="5259437"/>
                  </a:cubicBezTo>
                  <a:lnTo>
                    <a:pt x="496396" y="5259437"/>
                  </a:lnTo>
                  <a:cubicBezTo>
                    <a:pt x="222309" y="5259527"/>
                    <a:pt x="0" y="5195858"/>
                    <a:pt x="0" y="5117304"/>
                  </a:cubicBezTo>
                  <a:close/>
                </a:path>
              </a:pathLst>
            </a:custGeom>
            <a:solidFill>
              <a:srgbClr val="EEF4F5"/>
            </a:solidFill>
            <a:ln w="25400" cap="sq">
              <a:solidFill>
                <a:srgbClr val="EEF4F5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587152" y="3910012"/>
            <a:ext cx="15113696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8028" indent="-374014" lvl="1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 memiliki 21 kolom dengan variabel numerik dan kategorial</a:t>
            </a:r>
          </a:p>
          <a:p>
            <a:pPr algn="l" marL="748028" indent="-374014" lvl="1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pemeriksaan df.info(), df.describe(), dan df.isnull().sum() dilakukan untuk memahami struktur awal data</a:t>
            </a:r>
          </a:p>
          <a:p>
            <a:pPr algn="l" marL="748028" indent="-374014" lvl="1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Hasil 13.580 data non null pada setiap kolom</a:t>
            </a:r>
          </a:p>
          <a:p>
            <a:pPr algn="l" marL="748028" indent="-374014" lvl="1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missing value yang terdeteksi 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4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b="true" sz="5600">
                  <a:solidFill>
                    <a:srgbClr val="FEFEF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EDA 2: statistik deskriptif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14400" y="2468880"/>
          <a:ext cx="16408400" cy="6400800"/>
        </p:xfrm>
        <a:graphic>
          <a:graphicData uri="http://schemas.openxmlformats.org/drawingml/2006/table">
            <a:tbl>
              <a:tblPr/>
              <a:tblGrid>
                <a:gridCol w="4005358"/>
                <a:gridCol w="3281680"/>
                <a:gridCol w="2919841"/>
                <a:gridCol w="2919841"/>
                <a:gridCol w="3281680"/>
              </a:tblGrid>
              <a:tr h="711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EFEF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Kolom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41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EFEF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Rata-rata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41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EFEF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Median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41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EFEF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41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EFEF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Maks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416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Rooms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2,94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Price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1.075.684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903.000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85.000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9.000.000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Distance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10,14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9,2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48,1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Bathroom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1,53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1,61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Landsize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558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440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433.014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BuildingArea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139,6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44.515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YearBuilt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1967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1970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1196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2018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4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b="true" sz="5600">
                  <a:solidFill>
                    <a:srgbClr val="FEFEF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EDA 3: distribusi harga menceng ke kanan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743200"/>
            <a:ext cx="10241280" cy="5603491"/>
            <a:chOff x="0" y="0"/>
            <a:chExt cx="13655040" cy="7471321"/>
          </a:xfrm>
        </p:grpSpPr>
        <p:sp>
          <p:nvSpPr>
            <p:cNvPr name="Freeform 6" id="6" descr="img2_cell9.png"/>
            <p:cNvSpPr/>
            <p:nvPr/>
          </p:nvSpPr>
          <p:spPr>
            <a:xfrm flipH="false" flipV="false" rot="0">
              <a:off x="0" y="0"/>
              <a:ext cx="13655039" cy="7471283"/>
            </a:xfrm>
            <a:custGeom>
              <a:avLst/>
              <a:gdLst/>
              <a:ahLst/>
              <a:cxnLst/>
              <a:rect r="r" b="b" t="t" l="l"/>
              <a:pathLst>
                <a:path h="7471283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7471283"/>
                  </a:lnTo>
                  <a:lnTo>
                    <a:pt x="0" y="7471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155680" y="3025583"/>
            <a:ext cx="6297885" cy="498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898" indent="-361949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FEFEFE"/>
                </a:solidFill>
                <a:latin typeface="Calibri (MS)"/>
                <a:ea typeface="Calibri (MS)"/>
                <a:cs typeface="Calibri (MS)"/>
                <a:sym typeface="Calibri (MS)"/>
              </a:rPr>
              <a:t>Harga paling banyak terkonsentrasi hingga sekitar 1-</a:t>
            </a:r>
            <a:r>
              <a:rPr lang="en-US" sz="2999">
                <a:solidFill>
                  <a:srgbClr val="FEFEFE"/>
                </a:solidFill>
                <a:latin typeface="Calibri (MS)"/>
                <a:ea typeface="Calibri (MS)"/>
                <a:cs typeface="Calibri (MS)"/>
                <a:sym typeface="Calibri (MS)"/>
              </a:rPr>
              <a:t>1,5 jt.</a:t>
            </a:r>
          </a:p>
          <a:p>
            <a:pPr algn="l" marL="723898" indent="-361949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FEFEFE"/>
                </a:solidFill>
                <a:latin typeface="Calibri (MS)"/>
                <a:ea typeface="Calibri (MS)"/>
                <a:cs typeface="Calibri (MS)"/>
                <a:sym typeface="Calibri (MS)"/>
              </a:rPr>
              <a:t>Setelah kurang lebih dari 2 jt jumlah rumah semakin sedikit</a:t>
            </a:r>
          </a:p>
          <a:p>
            <a:pPr algn="l" marL="723898" indent="-361949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FEFEFE"/>
                </a:solidFill>
                <a:latin typeface="Calibri (MS)"/>
                <a:ea typeface="Calibri (MS)"/>
                <a:cs typeface="Calibri (MS)"/>
                <a:sym typeface="Calibri (MS)"/>
              </a:rPr>
              <a:t>Ekor Distribusi memanjang hingga kurang lebih 9 jt menunjukkan beberapa rumah dengan harga sangat tinggi</a:t>
            </a:r>
          </a:p>
          <a:p>
            <a:pPr algn="l" marL="723898" indent="-361949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FEFEFE"/>
                </a:solidFill>
                <a:latin typeface="Calibri (MS)"/>
                <a:ea typeface="Calibri (MS)"/>
                <a:cs typeface="Calibri (MS)"/>
                <a:sym typeface="Calibri (MS)"/>
              </a:rPr>
              <a:t>Rata-rata Price (1,08 jt) lebih tinggi daripada median (903 rb).</a:t>
            </a:r>
          </a:p>
          <a:p>
            <a:pPr algn="l">
              <a:lnSpc>
                <a:spcPts val="35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4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93007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b="true" sz="5600">
                  <a:solidFill>
                    <a:srgbClr val="FEFEF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EDA 4: matriks korelasi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468880"/>
            <a:ext cx="7904902" cy="7040880"/>
            <a:chOff x="0" y="0"/>
            <a:chExt cx="10539870" cy="9387840"/>
          </a:xfrm>
        </p:grpSpPr>
        <p:sp>
          <p:nvSpPr>
            <p:cNvPr name="Freeform 6" id="6" descr="img3_cell9.png"/>
            <p:cNvSpPr/>
            <p:nvPr/>
          </p:nvSpPr>
          <p:spPr>
            <a:xfrm flipH="false" flipV="false" rot="0">
              <a:off x="0" y="0"/>
              <a:ext cx="10539857" cy="9387840"/>
            </a:xfrm>
            <a:custGeom>
              <a:avLst/>
              <a:gdLst/>
              <a:ahLst/>
              <a:cxnLst/>
              <a:rect r="r" b="b" t="t" l="l"/>
              <a:pathLst>
                <a:path h="9387840" w="10539857">
                  <a:moveTo>
                    <a:pt x="0" y="0"/>
                  </a:moveTo>
                  <a:lnTo>
                    <a:pt x="10539857" y="0"/>
                  </a:lnTo>
                  <a:lnTo>
                    <a:pt x="10539857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365393" y="3379012"/>
            <a:ext cx="7782126" cy="363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898" indent="-361949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FEFEFE"/>
                </a:solidFill>
                <a:latin typeface="Calibri (MS)"/>
                <a:ea typeface="Calibri (MS)"/>
                <a:cs typeface="Calibri (MS)"/>
                <a:sym typeface="Calibri (MS)"/>
              </a:rPr>
              <a:t>Rooms-price = 0,50 jumlah kamarcukup berkaitan dengan harga</a:t>
            </a:r>
          </a:p>
          <a:p>
            <a:pPr algn="l" marL="723898" indent="-361949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FEFEFE"/>
                </a:solidFill>
                <a:latin typeface="Calibri (MS)"/>
                <a:ea typeface="Calibri (MS)"/>
                <a:cs typeface="Calibri (MS)"/>
                <a:sym typeface="Calibri (MS)"/>
              </a:rPr>
              <a:t>Bathroom-price = 0,47 jumlah kamar mandi cukup berkaitan dengan harga</a:t>
            </a:r>
          </a:p>
          <a:p>
            <a:pPr algn="l" marL="723898" indent="-361949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FEFEFE"/>
                </a:solidFill>
                <a:latin typeface="Calibri (MS)"/>
                <a:ea typeface="Calibri (MS)"/>
                <a:cs typeface="Calibri (MS)"/>
                <a:sym typeface="Calibri (MS)"/>
              </a:rPr>
              <a:t>distance-Price = -0,16 semakin jauh dari pusat kota, harga cenderung menurun</a:t>
            </a:r>
          </a:p>
          <a:p>
            <a:pPr algn="l" marL="723898" indent="-361949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FEFEFE"/>
                </a:solidFill>
                <a:latin typeface="Calibri (MS)"/>
                <a:ea typeface="Calibri (MS)"/>
                <a:cs typeface="Calibri (MS)"/>
                <a:sym typeface="Calibri (MS)"/>
              </a:rPr>
              <a:t>Rooms-Bedroom2 = 0,92 kedua fitur punya hubungan yang sangat kuat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4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b="true" sz="5600">
                  <a:solidFill>
                    <a:srgbClr val="FEFEF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EDA 6: nilai ekstrem (outlier)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456183"/>
            <a:ext cx="8072123" cy="2494283"/>
            <a:chOff x="0" y="0"/>
            <a:chExt cx="10762831" cy="33257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62869" cy="3325749"/>
            </a:xfrm>
            <a:custGeom>
              <a:avLst/>
              <a:gdLst/>
              <a:ahLst/>
              <a:cxnLst/>
              <a:rect r="r" b="b" t="t" l="l"/>
              <a:pathLst>
                <a:path h="3325749" w="10762869">
                  <a:moveTo>
                    <a:pt x="0" y="246380"/>
                  </a:moveTo>
                  <a:cubicBezTo>
                    <a:pt x="0" y="110236"/>
                    <a:pt x="110236" y="0"/>
                    <a:pt x="246380" y="0"/>
                  </a:cubicBezTo>
                  <a:lnTo>
                    <a:pt x="10516489" y="0"/>
                  </a:lnTo>
                  <a:cubicBezTo>
                    <a:pt x="10652506" y="0"/>
                    <a:pt x="10762869" y="110236"/>
                    <a:pt x="10762869" y="246380"/>
                  </a:cubicBezTo>
                  <a:lnTo>
                    <a:pt x="10762869" y="3079369"/>
                  </a:lnTo>
                  <a:cubicBezTo>
                    <a:pt x="10762869" y="3215386"/>
                    <a:pt x="10652633" y="3325749"/>
                    <a:pt x="10516489" y="3325749"/>
                  </a:cubicBezTo>
                  <a:lnTo>
                    <a:pt x="246380" y="3325749"/>
                  </a:lnTo>
                  <a:cubicBezTo>
                    <a:pt x="110363" y="3325749"/>
                    <a:pt x="0" y="3215513"/>
                    <a:pt x="0" y="3079369"/>
                  </a:cubicBezTo>
                  <a:close/>
                </a:path>
              </a:pathLst>
            </a:custGeom>
            <a:solidFill>
              <a:srgbClr val="917F6C"/>
            </a:solidFill>
            <a:ln w="25400" cap="sq">
              <a:solidFill>
                <a:srgbClr val="EEF4F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71600" y="2743200"/>
            <a:ext cx="7132320" cy="822960"/>
            <a:chOff x="0" y="0"/>
            <a:chExt cx="95097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5097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>
                  <a:solidFill>
                    <a:srgbClr val="2F24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Landsize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71600" y="3682365"/>
            <a:ext cx="713232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Maks 433.014. Ada nilai 0 dampak nya dapat manarik garis regresi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14183" y="2456183"/>
            <a:ext cx="8072123" cy="2494283"/>
            <a:chOff x="0" y="0"/>
            <a:chExt cx="10762831" cy="33257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62869" cy="3325749"/>
            </a:xfrm>
            <a:custGeom>
              <a:avLst/>
              <a:gdLst/>
              <a:ahLst/>
              <a:cxnLst/>
              <a:rect r="r" b="b" t="t" l="l"/>
              <a:pathLst>
                <a:path h="3325749" w="10762869">
                  <a:moveTo>
                    <a:pt x="0" y="246380"/>
                  </a:moveTo>
                  <a:cubicBezTo>
                    <a:pt x="0" y="110236"/>
                    <a:pt x="110236" y="0"/>
                    <a:pt x="246380" y="0"/>
                  </a:cubicBezTo>
                  <a:lnTo>
                    <a:pt x="10516489" y="0"/>
                  </a:lnTo>
                  <a:cubicBezTo>
                    <a:pt x="10652506" y="0"/>
                    <a:pt x="10762869" y="110236"/>
                    <a:pt x="10762869" y="246380"/>
                  </a:cubicBezTo>
                  <a:lnTo>
                    <a:pt x="10762869" y="3079369"/>
                  </a:lnTo>
                  <a:cubicBezTo>
                    <a:pt x="10762869" y="3215386"/>
                    <a:pt x="10652633" y="3325749"/>
                    <a:pt x="10516489" y="3325749"/>
                  </a:cubicBezTo>
                  <a:lnTo>
                    <a:pt x="246380" y="3325749"/>
                  </a:lnTo>
                  <a:cubicBezTo>
                    <a:pt x="110363" y="3325749"/>
                    <a:pt x="0" y="3215513"/>
                    <a:pt x="0" y="3079369"/>
                  </a:cubicBezTo>
                  <a:close/>
                </a:path>
              </a:pathLst>
            </a:custGeom>
            <a:solidFill>
              <a:srgbClr val="917F6C"/>
            </a:solidFill>
            <a:ln w="25400" cap="sq">
              <a:solidFill>
                <a:srgbClr val="EEF4F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784080" y="2743200"/>
            <a:ext cx="7132320" cy="822960"/>
            <a:chOff x="0" y="0"/>
            <a:chExt cx="950976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95097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>
                  <a:solidFill>
                    <a:srgbClr val="2F24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BuildingArea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784080" y="3682365"/>
            <a:ext cx="713232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Maks 44.515 Ada nilai 0 dampaknya memperbesar eror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01703" y="5290823"/>
            <a:ext cx="8072123" cy="2494283"/>
            <a:chOff x="0" y="0"/>
            <a:chExt cx="10762831" cy="33257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62869" cy="3325749"/>
            </a:xfrm>
            <a:custGeom>
              <a:avLst/>
              <a:gdLst/>
              <a:ahLst/>
              <a:cxnLst/>
              <a:rect r="r" b="b" t="t" l="l"/>
              <a:pathLst>
                <a:path h="3325749" w="10762869">
                  <a:moveTo>
                    <a:pt x="0" y="246380"/>
                  </a:moveTo>
                  <a:cubicBezTo>
                    <a:pt x="0" y="110236"/>
                    <a:pt x="110236" y="0"/>
                    <a:pt x="246380" y="0"/>
                  </a:cubicBezTo>
                  <a:lnTo>
                    <a:pt x="10516489" y="0"/>
                  </a:lnTo>
                  <a:cubicBezTo>
                    <a:pt x="10652506" y="0"/>
                    <a:pt x="10762869" y="110236"/>
                    <a:pt x="10762869" y="246380"/>
                  </a:cubicBezTo>
                  <a:lnTo>
                    <a:pt x="10762869" y="3079369"/>
                  </a:lnTo>
                  <a:cubicBezTo>
                    <a:pt x="10762869" y="3215386"/>
                    <a:pt x="10652633" y="3325749"/>
                    <a:pt x="10516489" y="3325749"/>
                  </a:cubicBezTo>
                  <a:lnTo>
                    <a:pt x="246380" y="3325749"/>
                  </a:lnTo>
                  <a:cubicBezTo>
                    <a:pt x="110363" y="3325749"/>
                    <a:pt x="0" y="3215513"/>
                    <a:pt x="0" y="3079369"/>
                  </a:cubicBezTo>
                  <a:close/>
                </a:path>
              </a:pathLst>
            </a:custGeom>
            <a:solidFill>
              <a:srgbClr val="917F6C"/>
            </a:solidFill>
            <a:ln w="25400" cap="sq">
              <a:solidFill>
                <a:srgbClr val="EEF4F5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71600" y="5577840"/>
            <a:ext cx="7132320" cy="822960"/>
            <a:chOff x="0" y="0"/>
            <a:chExt cx="950976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95097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>
                  <a:solidFill>
                    <a:srgbClr val="2F24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YearBuilt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71605" y="6517005"/>
            <a:ext cx="713232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Minimum 1196, indikasi datanya tidak masuk akal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14183" y="5290823"/>
            <a:ext cx="8072123" cy="2494283"/>
            <a:chOff x="0" y="0"/>
            <a:chExt cx="10762831" cy="33257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62869" cy="3325749"/>
            </a:xfrm>
            <a:custGeom>
              <a:avLst/>
              <a:gdLst/>
              <a:ahLst/>
              <a:cxnLst/>
              <a:rect r="r" b="b" t="t" l="l"/>
              <a:pathLst>
                <a:path h="3325749" w="10762869">
                  <a:moveTo>
                    <a:pt x="0" y="246380"/>
                  </a:moveTo>
                  <a:cubicBezTo>
                    <a:pt x="0" y="110236"/>
                    <a:pt x="110236" y="0"/>
                    <a:pt x="246380" y="0"/>
                  </a:cubicBezTo>
                  <a:lnTo>
                    <a:pt x="10516489" y="0"/>
                  </a:lnTo>
                  <a:cubicBezTo>
                    <a:pt x="10652506" y="0"/>
                    <a:pt x="10762869" y="110236"/>
                    <a:pt x="10762869" y="246380"/>
                  </a:cubicBezTo>
                  <a:lnTo>
                    <a:pt x="10762869" y="3079369"/>
                  </a:lnTo>
                  <a:cubicBezTo>
                    <a:pt x="10762869" y="3215386"/>
                    <a:pt x="10652633" y="3325749"/>
                    <a:pt x="10516489" y="3325749"/>
                  </a:cubicBezTo>
                  <a:lnTo>
                    <a:pt x="246380" y="3325749"/>
                  </a:lnTo>
                  <a:cubicBezTo>
                    <a:pt x="110363" y="3325749"/>
                    <a:pt x="0" y="3215513"/>
                    <a:pt x="0" y="3079369"/>
                  </a:cubicBezTo>
                  <a:close/>
                </a:path>
              </a:pathLst>
            </a:custGeom>
            <a:solidFill>
              <a:srgbClr val="917F6C"/>
            </a:solidFill>
            <a:ln w="25400" cap="sq">
              <a:solidFill>
                <a:srgbClr val="EEF4F5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784080" y="5577840"/>
            <a:ext cx="7132320" cy="822960"/>
            <a:chOff x="0" y="0"/>
            <a:chExt cx="950976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95097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>
                  <a:solidFill>
                    <a:srgbClr val="2F24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Bedroom2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784080" y="6517005"/>
            <a:ext cx="713232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Maks 20 kamar, sangat jauh dari median 3. dampaknya nilai ekstrem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01703" y="8216903"/>
            <a:ext cx="16484603" cy="1397003"/>
            <a:chOff x="0" y="0"/>
            <a:chExt cx="21979471" cy="18626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795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1979510">
                  <a:moveTo>
                    <a:pt x="0" y="248412"/>
                  </a:moveTo>
                  <a:cubicBezTo>
                    <a:pt x="0" y="111252"/>
                    <a:pt x="111252" y="0"/>
                    <a:pt x="248412" y="0"/>
                  </a:cubicBezTo>
                  <a:lnTo>
                    <a:pt x="21731097" y="0"/>
                  </a:lnTo>
                  <a:cubicBezTo>
                    <a:pt x="21868257" y="0"/>
                    <a:pt x="21979510" y="111252"/>
                    <a:pt x="21979510" y="248412"/>
                  </a:cubicBezTo>
                  <a:lnTo>
                    <a:pt x="21979510" y="1614297"/>
                  </a:lnTo>
                  <a:cubicBezTo>
                    <a:pt x="21979510" y="1751457"/>
                    <a:pt x="21868257" y="1862709"/>
                    <a:pt x="21731097" y="1862709"/>
                  </a:cubicBezTo>
                  <a:lnTo>
                    <a:pt x="248412" y="1862709"/>
                  </a:lnTo>
                  <a:cubicBezTo>
                    <a:pt x="111252" y="1862709"/>
                    <a:pt x="0" y="1751457"/>
                    <a:pt x="0" y="1614297"/>
                  </a:cubicBezTo>
                  <a:close/>
                </a:path>
              </a:pathLst>
            </a:custGeom>
            <a:solidFill>
              <a:srgbClr val="917F6C"/>
            </a:solidFill>
            <a:ln w="2540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371600" y="8229600"/>
            <a:ext cx="15544800" cy="1371600"/>
            <a:chOff x="0" y="0"/>
            <a:chExt cx="20726400" cy="1828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726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2072640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2F24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Outlier di temukan tetapi belum di tangani pada baseline modal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4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8990" y="-743156"/>
            <a:ext cx="16459200" cy="4105425"/>
            <a:chOff x="0" y="0"/>
            <a:chExt cx="21945600" cy="5473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5473900"/>
            </a:xfrm>
            <a:custGeom>
              <a:avLst/>
              <a:gdLst/>
              <a:ahLst/>
              <a:cxnLst/>
              <a:rect r="r" b="b" t="t" l="l"/>
              <a:pathLst>
                <a:path h="54739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473900"/>
                  </a:lnTo>
                  <a:lnTo>
                    <a:pt x="0" y="5473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299" r="0" b="40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548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20"/>
                </a:lnSpc>
              </a:pPr>
              <a:r>
                <a:rPr lang="en-US" b="true" sz="5600">
                  <a:solidFill>
                    <a:srgbClr val="FEFEF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Preprocessing- Missing Value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603836"/>
            <a:ext cx="16484603" cy="4465690"/>
            <a:chOff x="0" y="0"/>
            <a:chExt cx="21979471" cy="59542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08" cy="5954292"/>
            </a:xfrm>
            <a:custGeom>
              <a:avLst/>
              <a:gdLst/>
              <a:ahLst/>
              <a:cxnLst/>
              <a:rect r="r" b="b" t="t" l="l"/>
              <a:pathLst>
                <a:path h="5954292" w="21979508">
                  <a:moveTo>
                    <a:pt x="0" y="595526"/>
                  </a:moveTo>
                  <a:cubicBezTo>
                    <a:pt x="0" y="266717"/>
                    <a:pt x="110744" y="0"/>
                    <a:pt x="247269" y="0"/>
                  </a:cubicBezTo>
                  <a:lnTo>
                    <a:pt x="21732239" y="0"/>
                  </a:lnTo>
                  <a:cubicBezTo>
                    <a:pt x="21868764" y="0"/>
                    <a:pt x="21979508" y="266717"/>
                    <a:pt x="21979508" y="595526"/>
                  </a:cubicBezTo>
                  <a:lnTo>
                    <a:pt x="21979508" y="5358819"/>
                  </a:lnTo>
                  <a:cubicBezTo>
                    <a:pt x="21979508" y="5687628"/>
                    <a:pt x="21868764" y="5954292"/>
                    <a:pt x="21732239" y="5954292"/>
                  </a:cubicBezTo>
                  <a:lnTo>
                    <a:pt x="247269" y="5954292"/>
                  </a:lnTo>
                  <a:cubicBezTo>
                    <a:pt x="110744" y="5954292"/>
                    <a:pt x="0" y="5687628"/>
                    <a:pt x="0" y="5358819"/>
                  </a:cubicBezTo>
                  <a:close/>
                </a:path>
              </a:pathLst>
            </a:custGeom>
            <a:solidFill>
              <a:srgbClr val="917F6C"/>
            </a:solidFill>
            <a:ln w="2540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436190" y="3719913"/>
            <a:ext cx="15544800" cy="2233538"/>
            <a:chOff x="0" y="0"/>
            <a:chExt cx="20726400" cy="29780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2978051"/>
            </a:xfrm>
            <a:custGeom>
              <a:avLst/>
              <a:gdLst/>
              <a:ahLst/>
              <a:cxnLst/>
              <a:rect r="r" b="b" t="t" l="l"/>
              <a:pathLst>
                <a:path h="2978051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978051"/>
                  </a:lnTo>
                  <a:lnTo>
                    <a:pt x="0" y="2978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670" r="0" b="-7654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0726400" cy="30447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2F24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Missing value = hasil pemeriksaan menunjukkan 0 sehingga tidak ada imputasi yang di perlukan pada kondisi data yang di analisis</a:t>
              </a:r>
            </a:p>
            <a:p>
              <a:pPr algn="l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2F24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outlier di temukan di landsize, Building Area, YearBuilt, dan Bedroom2 ini belum di hapus di baseline</a:t>
              </a:r>
            </a:p>
            <a:p>
              <a:pPr algn="l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2F24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Pemilihan fitur = 6 variabel numerik di gunakan untuk model baseline</a:t>
              </a:r>
            </a:p>
            <a:p>
              <a:pPr algn="l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2F24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target nya price (Y)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4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b="true" sz="5600">
                  <a:solidFill>
                    <a:srgbClr val="FEFEF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Preprocessing 2: fitur dan target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14400" y="2468880"/>
          <a:ext cx="16433800" cy="4978400"/>
        </p:xfrm>
        <a:graphic>
          <a:graphicData uri="http://schemas.openxmlformats.org/drawingml/2006/table">
            <a:tbl>
              <a:tblPr/>
              <a:tblGrid>
                <a:gridCol w="4023883"/>
                <a:gridCol w="7295496"/>
                <a:gridCol w="5114421"/>
              </a:tblGrid>
              <a:tr h="711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EFEF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Fitur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41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EFEF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Arti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41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EFEF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Korelasi dengan Price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416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Rooms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Jumlah kamar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0,50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Distance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Jarak ke pusat kota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-0,16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Bathroom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Jumlah kamar mandi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0,47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Tempat parkir mobil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0,24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Landsize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Luas tanah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BuildingArea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Luas bangunan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F24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0,07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7F6C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914400" y="8094345"/>
            <a:ext cx="16459200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Target (y): Price. Fitur kategorikal (Type, Suburb, Regionname) belum dipakai.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4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b="true" sz="5600">
                  <a:solidFill>
                    <a:srgbClr val="FEFEF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Preprocessing 3: membagi data latih dan uji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730503"/>
            <a:ext cx="13192763" cy="1671323"/>
            <a:chOff x="0" y="0"/>
            <a:chExt cx="17590351" cy="22284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90388" cy="2228469"/>
            </a:xfrm>
            <a:custGeom>
              <a:avLst/>
              <a:gdLst/>
              <a:ahLst/>
              <a:cxnLst/>
              <a:rect r="r" b="b" t="t" l="l"/>
              <a:pathLst>
                <a:path h="2228469" w="17590388">
                  <a:moveTo>
                    <a:pt x="0" y="0"/>
                  </a:moveTo>
                  <a:lnTo>
                    <a:pt x="17590388" y="0"/>
                  </a:lnTo>
                  <a:lnTo>
                    <a:pt x="17590388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2F2416"/>
            </a:solidFill>
            <a:ln w="25400" cap="sq">
              <a:solidFill>
                <a:srgbClr val="2F2416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4069063" y="2730503"/>
            <a:ext cx="3317243" cy="1671323"/>
            <a:chOff x="0" y="0"/>
            <a:chExt cx="4422991" cy="22284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23029" cy="2228469"/>
            </a:xfrm>
            <a:custGeom>
              <a:avLst/>
              <a:gdLst/>
              <a:ahLst/>
              <a:cxnLst/>
              <a:rect r="r" b="b" t="t" l="l"/>
              <a:pathLst>
                <a:path h="222846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F28F3B"/>
            </a:solidFill>
            <a:ln w="25400" cap="sq">
              <a:solidFill>
                <a:srgbClr val="F28F3B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2743200"/>
            <a:ext cx="13167360" cy="1645920"/>
            <a:chOff x="0" y="0"/>
            <a:chExt cx="17556480" cy="2194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755648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917F6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latih 80% (±10.864)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081760" y="2743200"/>
            <a:ext cx="3291840" cy="1645920"/>
            <a:chOff x="0" y="0"/>
            <a:chExt cx="4389120" cy="2194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89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438912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2F24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Uji 20% (±2.716)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1703" y="5107943"/>
            <a:ext cx="16484603" cy="2135505"/>
            <a:chOff x="0" y="0"/>
            <a:chExt cx="21979471" cy="28473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79508" cy="2847379"/>
            </a:xfrm>
            <a:custGeom>
              <a:avLst/>
              <a:gdLst/>
              <a:ahLst/>
              <a:cxnLst/>
              <a:rect r="r" b="b" t="t" l="l"/>
              <a:pathLst>
                <a:path h="2847379" w="21979508">
                  <a:moveTo>
                    <a:pt x="0" y="123823"/>
                  </a:moveTo>
                  <a:cubicBezTo>
                    <a:pt x="0" y="55438"/>
                    <a:pt x="109855" y="0"/>
                    <a:pt x="245364" y="0"/>
                  </a:cubicBezTo>
                  <a:lnTo>
                    <a:pt x="21734145" y="0"/>
                  </a:lnTo>
                  <a:cubicBezTo>
                    <a:pt x="21869654" y="0"/>
                    <a:pt x="21979508" y="55438"/>
                    <a:pt x="21979508" y="123823"/>
                  </a:cubicBezTo>
                  <a:lnTo>
                    <a:pt x="21979508" y="2723536"/>
                  </a:lnTo>
                  <a:cubicBezTo>
                    <a:pt x="21979508" y="2791921"/>
                    <a:pt x="21869654" y="2847379"/>
                    <a:pt x="21734145" y="2847379"/>
                  </a:cubicBezTo>
                  <a:lnTo>
                    <a:pt x="245364" y="2847379"/>
                  </a:lnTo>
                  <a:cubicBezTo>
                    <a:pt x="109855" y="2847378"/>
                    <a:pt x="0" y="2791921"/>
                    <a:pt x="0" y="2723536"/>
                  </a:cubicBezTo>
                  <a:close/>
                </a:path>
              </a:pathLst>
            </a:custGeom>
            <a:solidFill>
              <a:srgbClr val="917F6C"/>
            </a:solidFill>
            <a:ln w="25400" cap="sq">
              <a:solidFill>
                <a:srgbClr val="EEF4F5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463040" y="5419725"/>
            <a:ext cx="1536192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Data latih dipakai untuk belajar; data uji mengukur performa pada data yang belum pernah dilihat.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random_state=42 menjaga pembagian konsisten setiap kali kode dijalankan.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Jumlah per bagian dihitung dari 13.580 baris.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4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b="true" sz="5600">
                  <a:solidFill>
                    <a:srgbClr val="FEFEF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Model: regresi linear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456183"/>
            <a:ext cx="16484603" cy="2219963"/>
            <a:chOff x="0" y="0"/>
            <a:chExt cx="21979471" cy="29599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2959989"/>
            </a:xfrm>
            <a:custGeom>
              <a:avLst/>
              <a:gdLst/>
              <a:ahLst/>
              <a:cxnLst/>
              <a:rect r="r" b="b" t="t" l="l"/>
              <a:pathLst>
                <a:path h="2959989" w="21979510">
                  <a:moveTo>
                    <a:pt x="0" y="246634"/>
                  </a:moveTo>
                  <a:cubicBezTo>
                    <a:pt x="0" y="110490"/>
                    <a:pt x="110490" y="0"/>
                    <a:pt x="246634" y="0"/>
                  </a:cubicBezTo>
                  <a:lnTo>
                    <a:pt x="21732875" y="0"/>
                  </a:lnTo>
                  <a:cubicBezTo>
                    <a:pt x="21869146" y="0"/>
                    <a:pt x="21979510" y="110490"/>
                    <a:pt x="21979510" y="246634"/>
                  </a:cubicBezTo>
                  <a:lnTo>
                    <a:pt x="21979510" y="2713355"/>
                  </a:lnTo>
                  <a:cubicBezTo>
                    <a:pt x="21979510" y="2849626"/>
                    <a:pt x="21869019" y="2959989"/>
                    <a:pt x="21732875" y="2959989"/>
                  </a:cubicBezTo>
                  <a:lnTo>
                    <a:pt x="246634" y="2959989"/>
                  </a:lnTo>
                  <a:cubicBezTo>
                    <a:pt x="110490" y="2959989"/>
                    <a:pt x="0" y="2849499"/>
                    <a:pt x="0" y="2713355"/>
                  </a:cubicBezTo>
                  <a:close/>
                </a:path>
              </a:pathLst>
            </a:custGeom>
            <a:solidFill>
              <a:srgbClr val="917F6C"/>
            </a:solidFill>
            <a:ln w="2540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71600" y="2468880"/>
            <a:ext cx="15544800" cy="2194560"/>
            <a:chOff x="0" y="0"/>
            <a:chExt cx="20726400" cy="2926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0726400" cy="2983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2F24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Price = b0 + b1·Rooms + b2·Distance + b3·Bathroom + b4·Car + b5·Landsize + b6·BuildingArea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5199383"/>
            <a:ext cx="16484603" cy="2115817"/>
            <a:chOff x="0" y="0"/>
            <a:chExt cx="21979471" cy="28210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508" cy="2821127"/>
            </a:xfrm>
            <a:custGeom>
              <a:avLst/>
              <a:gdLst/>
              <a:ahLst/>
              <a:cxnLst/>
              <a:rect r="r" b="b" t="t" l="l"/>
              <a:pathLst>
                <a:path h="2821127" w="21979508">
                  <a:moveTo>
                    <a:pt x="0" y="125391"/>
                  </a:moveTo>
                  <a:cubicBezTo>
                    <a:pt x="0" y="56140"/>
                    <a:pt x="109855" y="0"/>
                    <a:pt x="245364" y="0"/>
                  </a:cubicBezTo>
                  <a:lnTo>
                    <a:pt x="21734145" y="0"/>
                  </a:lnTo>
                  <a:cubicBezTo>
                    <a:pt x="21869654" y="0"/>
                    <a:pt x="21979508" y="56140"/>
                    <a:pt x="21979508" y="125391"/>
                  </a:cubicBezTo>
                  <a:lnTo>
                    <a:pt x="21979508" y="2695717"/>
                  </a:lnTo>
                  <a:cubicBezTo>
                    <a:pt x="21979508" y="2764968"/>
                    <a:pt x="21869654" y="2821127"/>
                    <a:pt x="21734145" y="2821127"/>
                  </a:cubicBezTo>
                  <a:lnTo>
                    <a:pt x="245364" y="2821127"/>
                  </a:lnTo>
                  <a:cubicBezTo>
                    <a:pt x="109855" y="2821127"/>
                    <a:pt x="0" y="2764968"/>
                    <a:pt x="0" y="2695717"/>
                  </a:cubicBezTo>
                  <a:close/>
                </a:path>
              </a:pathLst>
            </a:custGeom>
            <a:solidFill>
              <a:srgbClr val="917F6C"/>
            </a:solidFill>
            <a:ln w="25400" cap="sq">
              <a:solidFill>
                <a:srgbClr val="EEF4F5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463040" y="5511165"/>
            <a:ext cx="1536192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Model digunakan untuk memprediksi price berdasarkan 6 fitur numerik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fit() dengan X_train dan y_train, lalu predict() pada X_test.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Asumsi: hubungan fitur dan harga bersifat linear.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4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87259" y="459743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b="true" sz="5600">
                  <a:solidFill>
                    <a:srgbClr val="FEFEF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Metrik evaluasi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456183"/>
            <a:ext cx="8072123" cy="3225803"/>
            <a:chOff x="0" y="0"/>
            <a:chExt cx="10762831" cy="4301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62869" cy="4301109"/>
            </a:xfrm>
            <a:custGeom>
              <a:avLst/>
              <a:gdLst/>
              <a:ahLst/>
              <a:cxnLst/>
              <a:rect r="r" b="b" t="t" l="l"/>
              <a:pathLst>
                <a:path h="4301109" w="10762869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10517124" y="0"/>
                  </a:lnTo>
                  <a:cubicBezTo>
                    <a:pt x="10652887" y="0"/>
                    <a:pt x="10762869" y="109982"/>
                    <a:pt x="10762869" y="245745"/>
                  </a:cubicBezTo>
                  <a:lnTo>
                    <a:pt x="10762869" y="4055364"/>
                  </a:lnTo>
                  <a:cubicBezTo>
                    <a:pt x="10762869" y="4191127"/>
                    <a:pt x="10652887" y="4301109"/>
                    <a:pt x="10517124" y="4301109"/>
                  </a:cubicBezTo>
                  <a:lnTo>
                    <a:pt x="245745" y="4301109"/>
                  </a:lnTo>
                  <a:cubicBezTo>
                    <a:pt x="109982" y="4301109"/>
                    <a:pt x="0" y="4191000"/>
                    <a:pt x="0" y="4055364"/>
                  </a:cubicBezTo>
                  <a:close/>
                </a:path>
              </a:pathLst>
            </a:custGeom>
            <a:solidFill>
              <a:srgbClr val="917F6C"/>
            </a:solidFill>
            <a:ln w="25400" cap="sq">
              <a:solidFill>
                <a:srgbClr val="EEF4F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71600" y="2834640"/>
            <a:ext cx="7132320" cy="822960"/>
            <a:chOff x="0" y="0"/>
            <a:chExt cx="95097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5097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>
                  <a:solidFill>
                    <a:srgbClr val="2F24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71600" y="3773805"/>
            <a:ext cx="7132320" cy="171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Rata-rata selisih absolut prediksi dan nilai asli. Satuannya sama dengan harga.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14183" y="2456183"/>
            <a:ext cx="8072123" cy="3225803"/>
            <a:chOff x="0" y="0"/>
            <a:chExt cx="10762831" cy="43010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62869" cy="4301109"/>
            </a:xfrm>
            <a:custGeom>
              <a:avLst/>
              <a:gdLst/>
              <a:ahLst/>
              <a:cxnLst/>
              <a:rect r="r" b="b" t="t" l="l"/>
              <a:pathLst>
                <a:path h="4301109" w="10762869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10517124" y="0"/>
                  </a:lnTo>
                  <a:cubicBezTo>
                    <a:pt x="10652887" y="0"/>
                    <a:pt x="10762869" y="109982"/>
                    <a:pt x="10762869" y="245745"/>
                  </a:cubicBezTo>
                  <a:lnTo>
                    <a:pt x="10762869" y="4055364"/>
                  </a:lnTo>
                  <a:cubicBezTo>
                    <a:pt x="10762869" y="4191127"/>
                    <a:pt x="10652887" y="4301109"/>
                    <a:pt x="10517124" y="4301109"/>
                  </a:cubicBezTo>
                  <a:lnTo>
                    <a:pt x="245745" y="4301109"/>
                  </a:lnTo>
                  <a:cubicBezTo>
                    <a:pt x="109982" y="4301109"/>
                    <a:pt x="0" y="4191000"/>
                    <a:pt x="0" y="4055364"/>
                  </a:cubicBezTo>
                  <a:close/>
                </a:path>
              </a:pathLst>
            </a:custGeom>
            <a:solidFill>
              <a:srgbClr val="917F6C"/>
            </a:solidFill>
            <a:ln w="25400" cap="sq">
              <a:solidFill>
                <a:srgbClr val="EEF4F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784080" y="2834640"/>
            <a:ext cx="7132320" cy="822960"/>
            <a:chOff x="0" y="0"/>
            <a:chExt cx="950976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95097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>
                  <a:solidFill>
                    <a:srgbClr val="2F24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MSE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784080" y="3773805"/>
            <a:ext cx="7132320" cy="171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Rata-rata selisih kuadrat. Menghukum error besar lebih berat.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01703" y="6022343"/>
            <a:ext cx="8072123" cy="3225803"/>
            <a:chOff x="0" y="0"/>
            <a:chExt cx="10762831" cy="43010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62869" cy="4301109"/>
            </a:xfrm>
            <a:custGeom>
              <a:avLst/>
              <a:gdLst/>
              <a:ahLst/>
              <a:cxnLst/>
              <a:rect r="r" b="b" t="t" l="l"/>
              <a:pathLst>
                <a:path h="4301109" w="10762869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10517124" y="0"/>
                  </a:lnTo>
                  <a:cubicBezTo>
                    <a:pt x="10652887" y="0"/>
                    <a:pt x="10762869" y="109982"/>
                    <a:pt x="10762869" y="245745"/>
                  </a:cubicBezTo>
                  <a:lnTo>
                    <a:pt x="10762869" y="4055364"/>
                  </a:lnTo>
                  <a:cubicBezTo>
                    <a:pt x="10762869" y="4191127"/>
                    <a:pt x="10652887" y="4301109"/>
                    <a:pt x="10517124" y="4301109"/>
                  </a:cubicBezTo>
                  <a:lnTo>
                    <a:pt x="245745" y="4301109"/>
                  </a:lnTo>
                  <a:cubicBezTo>
                    <a:pt x="109982" y="4301109"/>
                    <a:pt x="0" y="4191000"/>
                    <a:pt x="0" y="4055364"/>
                  </a:cubicBezTo>
                  <a:close/>
                </a:path>
              </a:pathLst>
            </a:custGeom>
            <a:solidFill>
              <a:srgbClr val="917F6C"/>
            </a:solidFill>
            <a:ln w="25400" cap="sq">
              <a:solidFill>
                <a:srgbClr val="EEF4F5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71600" y="6400800"/>
            <a:ext cx="7132320" cy="822960"/>
            <a:chOff x="0" y="0"/>
            <a:chExt cx="950976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95097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>
                  <a:solidFill>
                    <a:srgbClr val="2F24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RMSE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71600" y="7339965"/>
            <a:ext cx="7132320" cy="171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Akar dari MSE. Satuannya kembali sama dengan harga.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14183" y="6022343"/>
            <a:ext cx="8072123" cy="3225803"/>
            <a:chOff x="0" y="0"/>
            <a:chExt cx="10762831" cy="43010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62869" cy="4301109"/>
            </a:xfrm>
            <a:custGeom>
              <a:avLst/>
              <a:gdLst/>
              <a:ahLst/>
              <a:cxnLst/>
              <a:rect r="r" b="b" t="t" l="l"/>
              <a:pathLst>
                <a:path h="4301109" w="10762869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10517124" y="0"/>
                  </a:lnTo>
                  <a:cubicBezTo>
                    <a:pt x="10652887" y="0"/>
                    <a:pt x="10762869" y="109982"/>
                    <a:pt x="10762869" y="245745"/>
                  </a:cubicBezTo>
                  <a:lnTo>
                    <a:pt x="10762869" y="4055364"/>
                  </a:lnTo>
                  <a:cubicBezTo>
                    <a:pt x="10762869" y="4191127"/>
                    <a:pt x="10652887" y="4301109"/>
                    <a:pt x="10517124" y="4301109"/>
                  </a:cubicBezTo>
                  <a:lnTo>
                    <a:pt x="245745" y="4301109"/>
                  </a:lnTo>
                  <a:cubicBezTo>
                    <a:pt x="109982" y="4301109"/>
                    <a:pt x="0" y="4191000"/>
                    <a:pt x="0" y="4055364"/>
                  </a:cubicBezTo>
                  <a:close/>
                </a:path>
              </a:pathLst>
            </a:custGeom>
            <a:solidFill>
              <a:srgbClr val="917F6C"/>
            </a:solidFill>
            <a:ln w="25400" cap="sq">
              <a:solidFill>
                <a:srgbClr val="EEF4F5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784080" y="6400800"/>
            <a:ext cx="7132320" cy="822960"/>
            <a:chOff x="0" y="0"/>
            <a:chExt cx="950976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95097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>
                  <a:solidFill>
                    <a:srgbClr val="2F24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R²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784080" y="7339965"/>
            <a:ext cx="7132320" cy="171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Porsi variasi harga yang dijelaskan model. 1 = sempurna, 0 = setara menebak rata-rata.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4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5666" y="564518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b="true" sz="5600">
                  <a:solidFill>
                    <a:srgbClr val="FEFEF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Hasil evaluasi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456183"/>
            <a:ext cx="5237483" cy="3317243"/>
            <a:chOff x="0" y="0"/>
            <a:chExt cx="6983311" cy="44229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83349" cy="4423029"/>
            </a:xfrm>
            <a:custGeom>
              <a:avLst/>
              <a:gdLst/>
              <a:ahLst/>
              <a:cxnLst/>
              <a:rect r="r" b="b" t="t" l="l"/>
              <a:pathLst>
                <a:path h="4423029" w="6983349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6737604" y="0"/>
                  </a:lnTo>
                  <a:cubicBezTo>
                    <a:pt x="6873367" y="0"/>
                    <a:pt x="6983349" y="109982"/>
                    <a:pt x="6983349" y="245745"/>
                  </a:cubicBezTo>
                  <a:lnTo>
                    <a:pt x="6983349" y="4177284"/>
                  </a:lnTo>
                  <a:cubicBezTo>
                    <a:pt x="6983349" y="4313047"/>
                    <a:pt x="6873367" y="4423029"/>
                    <a:pt x="6737604" y="4423029"/>
                  </a:cubicBezTo>
                  <a:lnTo>
                    <a:pt x="245745" y="4423029"/>
                  </a:lnTo>
                  <a:cubicBezTo>
                    <a:pt x="109982" y="4423029"/>
                    <a:pt x="0" y="4312920"/>
                    <a:pt x="0" y="4177284"/>
                  </a:cubicBezTo>
                  <a:close/>
                </a:path>
              </a:pathLst>
            </a:custGeom>
            <a:solidFill>
              <a:srgbClr val="917F6C"/>
            </a:solidFill>
            <a:ln w="25400" cap="sq">
              <a:solidFill>
                <a:srgbClr val="EEF4F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40793" y="3200400"/>
            <a:ext cx="4572000" cy="1371600"/>
            <a:chOff x="0" y="0"/>
            <a:chExt cx="609600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96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0960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b="true" sz="7200">
                  <a:solidFill>
                    <a:srgbClr val="2F24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0,41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31268" y="2905125"/>
            <a:ext cx="45720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R²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479543" y="2456183"/>
            <a:ext cx="5237483" cy="3317243"/>
            <a:chOff x="0" y="0"/>
            <a:chExt cx="6983311" cy="4422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83349" cy="4423029"/>
            </a:xfrm>
            <a:custGeom>
              <a:avLst/>
              <a:gdLst/>
              <a:ahLst/>
              <a:cxnLst/>
              <a:rect r="r" b="b" t="t" l="l"/>
              <a:pathLst>
                <a:path h="4423029" w="6983349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6737604" y="0"/>
                  </a:lnTo>
                  <a:cubicBezTo>
                    <a:pt x="6873367" y="0"/>
                    <a:pt x="6983349" y="109982"/>
                    <a:pt x="6983349" y="245745"/>
                  </a:cubicBezTo>
                  <a:lnTo>
                    <a:pt x="6983349" y="4177284"/>
                  </a:lnTo>
                  <a:cubicBezTo>
                    <a:pt x="6983349" y="4313047"/>
                    <a:pt x="6873367" y="4423029"/>
                    <a:pt x="6737604" y="4423029"/>
                  </a:cubicBezTo>
                  <a:lnTo>
                    <a:pt x="245745" y="4423029"/>
                  </a:lnTo>
                  <a:cubicBezTo>
                    <a:pt x="109982" y="4423029"/>
                    <a:pt x="0" y="4312920"/>
                    <a:pt x="0" y="4177284"/>
                  </a:cubicBezTo>
                  <a:close/>
                </a:path>
              </a:pathLst>
            </a:custGeom>
            <a:solidFill>
              <a:srgbClr val="917F6C"/>
            </a:solidFill>
            <a:ln w="25400" cap="sq">
              <a:solidFill>
                <a:srgbClr val="EEF4F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858005" y="3200400"/>
            <a:ext cx="4572000" cy="1371600"/>
            <a:chOff x="0" y="0"/>
            <a:chExt cx="609600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96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60960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b="true" sz="7200">
                  <a:solidFill>
                    <a:srgbClr val="2F24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345 rb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815234" y="2872062"/>
            <a:ext cx="45720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57383" y="2456183"/>
            <a:ext cx="5237483" cy="3317243"/>
            <a:chOff x="0" y="0"/>
            <a:chExt cx="6983311" cy="4422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83349" cy="4423029"/>
            </a:xfrm>
            <a:custGeom>
              <a:avLst/>
              <a:gdLst/>
              <a:ahLst/>
              <a:cxnLst/>
              <a:rect r="r" b="b" t="t" l="l"/>
              <a:pathLst>
                <a:path h="4423029" w="6983349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6737604" y="0"/>
                  </a:lnTo>
                  <a:cubicBezTo>
                    <a:pt x="6873367" y="0"/>
                    <a:pt x="6983349" y="109982"/>
                    <a:pt x="6983349" y="245745"/>
                  </a:cubicBezTo>
                  <a:lnTo>
                    <a:pt x="6983349" y="4177284"/>
                  </a:lnTo>
                  <a:cubicBezTo>
                    <a:pt x="6983349" y="4313047"/>
                    <a:pt x="6873367" y="4423029"/>
                    <a:pt x="6737604" y="4423029"/>
                  </a:cubicBezTo>
                  <a:lnTo>
                    <a:pt x="245745" y="4423029"/>
                  </a:lnTo>
                  <a:cubicBezTo>
                    <a:pt x="109982" y="4423029"/>
                    <a:pt x="0" y="4312920"/>
                    <a:pt x="0" y="4177284"/>
                  </a:cubicBezTo>
                  <a:close/>
                </a:path>
              </a:pathLst>
            </a:custGeom>
            <a:solidFill>
              <a:srgbClr val="917F6C"/>
            </a:solidFill>
            <a:ln w="25400" cap="sq">
              <a:solidFill>
                <a:srgbClr val="EEF4F5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431401" y="3395937"/>
            <a:ext cx="4572000" cy="1371600"/>
            <a:chOff x="0" y="0"/>
            <a:chExt cx="6096000" cy="1828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96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0960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b="true" sz="7200">
                  <a:solidFill>
                    <a:srgbClr val="2F24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485 rb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393301" y="2905125"/>
            <a:ext cx="45720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RMSE (dari MSE 2,36e11)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01703" y="6205223"/>
            <a:ext cx="16484603" cy="1833312"/>
            <a:chOff x="0" y="0"/>
            <a:chExt cx="21979471" cy="24444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79510" cy="2444454"/>
            </a:xfrm>
            <a:custGeom>
              <a:avLst/>
              <a:gdLst/>
              <a:ahLst/>
              <a:cxnLst/>
              <a:rect r="r" b="b" t="t" l="l"/>
              <a:pathLst>
                <a:path h="2444454" w="21979510">
                  <a:moveTo>
                    <a:pt x="0" y="143812"/>
                  </a:moveTo>
                  <a:cubicBezTo>
                    <a:pt x="0" y="64404"/>
                    <a:pt x="110109" y="0"/>
                    <a:pt x="245872" y="0"/>
                  </a:cubicBezTo>
                  <a:lnTo>
                    <a:pt x="21733638" y="0"/>
                  </a:lnTo>
                  <a:cubicBezTo>
                    <a:pt x="21869400" y="0"/>
                    <a:pt x="21979510" y="64404"/>
                    <a:pt x="21979510" y="143812"/>
                  </a:cubicBezTo>
                  <a:lnTo>
                    <a:pt x="21979510" y="2300626"/>
                  </a:lnTo>
                  <a:cubicBezTo>
                    <a:pt x="21979510" y="2380035"/>
                    <a:pt x="21869400" y="2444454"/>
                    <a:pt x="21733638" y="2444454"/>
                  </a:cubicBezTo>
                  <a:lnTo>
                    <a:pt x="245872" y="2444454"/>
                  </a:lnTo>
                  <a:cubicBezTo>
                    <a:pt x="110109" y="2444454"/>
                    <a:pt x="0" y="2380035"/>
                    <a:pt x="0" y="2300626"/>
                  </a:cubicBezTo>
                  <a:close/>
                </a:path>
              </a:pathLst>
            </a:custGeom>
            <a:solidFill>
              <a:srgbClr val="917F6C"/>
            </a:solidFill>
            <a:ln w="25400" cap="sq">
              <a:solidFill>
                <a:srgbClr val="EEF4F5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463040" y="6425565"/>
            <a:ext cx="15361920" cy="262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Model menjelaskan sekitar 41% variasi harga.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MAE 345 rb sekitar 32% dari harga rata-rata.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RMSE lebih besar dari MAE: ada kesalahan besar pada sebagian rumah.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4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7106" y="-447825"/>
            <a:ext cx="16459200" cy="4105425"/>
            <a:chOff x="0" y="0"/>
            <a:chExt cx="21945600" cy="5473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5473900"/>
            </a:xfrm>
            <a:custGeom>
              <a:avLst/>
              <a:gdLst/>
              <a:ahLst/>
              <a:cxnLst/>
              <a:rect r="r" b="b" t="t" l="l"/>
              <a:pathLst>
                <a:path h="54739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473900"/>
                  </a:lnTo>
                  <a:lnTo>
                    <a:pt x="0" y="5473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299" r="0" b="40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548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20"/>
                </a:lnSpc>
              </a:pPr>
              <a:r>
                <a:rPr lang="en-US" b="true" sz="5600">
                  <a:solidFill>
                    <a:srgbClr val="FEFEF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Interpretasi hasil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456183"/>
            <a:ext cx="8072123" cy="4036057"/>
            <a:chOff x="0" y="0"/>
            <a:chExt cx="10762831" cy="53814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62742" cy="5381357"/>
            </a:xfrm>
            <a:custGeom>
              <a:avLst/>
              <a:gdLst/>
              <a:ahLst/>
              <a:cxnLst/>
              <a:rect r="r" b="b" t="t" l="l"/>
              <a:pathLst>
                <a:path h="5381357" w="10762742">
                  <a:moveTo>
                    <a:pt x="0" y="145428"/>
                  </a:moveTo>
                  <a:cubicBezTo>
                    <a:pt x="0" y="65129"/>
                    <a:pt x="109601" y="0"/>
                    <a:pt x="244729" y="0"/>
                  </a:cubicBezTo>
                  <a:lnTo>
                    <a:pt x="10518013" y="0"/>
                  </a:lnTo>
                  <a:cubicBezTo>
                    <a:pt x="10653141" y="0"/>
                    <a:pt x="10762742" y="65129"/>
                    <a:pt x="10762742" y="145428"/>
                  </a:cubicBezTo>
                  <a:lnTo>
                    <a:pt x="10762742" y="5235928"/>
                  </a:lnTo>
                  <a:cubicBezTo>
                    <a:pt x="10762742" y="5316227"/>
                    <a:pt x="10653141" y="5381356"/>
                    <a:pt x="10518013" y="5381356"/>
                  </a:cubicBezTo>
                  <a:lnTo>
                    <a:pt x="244729" y="5381356"/>
                  </a:lnTo>
                  <a:cubicBezTo>
                    <a:pt x="109601" y="5381447"/>
                    <a:pt x="0" y="5316303"/>
                    <a:pt x="0" y="5235928"/>
                  </a:cubicBezTo>
                  <a:close/>
                </a:path>
              </a:pathLst>
            </a:custGeom>
            <a:solidFill>
              <a:srgbClr val="917F6C"/>
            </a:solidFill>
            <a:ln w="25400" cap="sq">
              <a:solidFill>
                <a:srgbClr val="EEF4F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71600" y="2834640"/>
            <a:ext cx="7132320" cy="822960"/>
            <a:chOff x="0" y="0"/>
            <a:chExt cx="95097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5097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>
                  <a:solidFill>
                    <a:srgbClr val="2F24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Yang sudah baik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71600" y="3865245"/>
            <a:ext cx="7132320" cy="518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Alur sederhana dan mudah direplikasi.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Fitur dasar sudah menangkap pola awal (R² 0,41).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Evaluasi memakai data uji terpisah.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14183" y="2456183"/>
            <a:ext cx="8072123" cy="4036057"/>
            <a:chOff x="0" y="0"/>
            <a:chExt cx="10762831" cy="53814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62742" cy="5381357"/>
            </a:xfrm>
            <a:custGeom>
              <a:avLst/>
              <a:gdLst/>
              <a:ahLst/>
              <a:cxnLst/>
              <a:rect r="r" b="b" t="t" l="l"/>
              <a:pathLst>
                <a:path h="5381357" w="10762742">
                  <a:moveTo>
                    <a:pt x="0" y="145428"/>
                  </a:moveTo>
                  <a:cubicBezTo>
                    <a:pt x="0" y="65129"/>
                    <a:pt x="109601" y="0"/>
                    <a:pt x="244729" y="0"/>
                  </a:cubicBezTo>
                  <a:lnTo>
                    <a:pt x="10518013" y="0"/>
                  </a:lnTo>
                  <a:cubicBezTo>
                    <a:pt x="10653141" y="0"/>
                    <a:pt x="10762742" y="65129"/>
                    <a:pt x="10762742" y="145428"/>
                  </a:cubicBezTo>
                  <a:lnTo>
                    <a:pt x="10762742" y="5235928"/>
                  </a:lnTo>
                  <a:cubicBezTo>
                    <a:pt x="10762742" y="5316227"/>
                    <a:pt x="10653141" y="5381356"/>
                    <a:pt x="10518013" y="5381356"/>
                  </a:cubicBezTo>
                  <a:lnTo>
                    <a:pt x="244729" y="5381356"/>
                  </a:lnTo>
                  <a:cubicBezTo>
                    <a:pt x="109601" y="5381447"/>
                    <a:pt x="0" y="5316303"/>
                    <a:pt x="0" y="5235928"/>
                  </a:cubicBezTo>
                  <a:close/>
                </a:path>
              </a:pathLst>
            </a:custGeom>
            <a:solidFill>
              <a:srgbClr val="917F6C"/>
            </a:solidFill>
            <a:ln w="2540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784080" y="2834640"/>
            <a:ext cx="7132320" cy="822960"/>
            <a:chOff x="0" y="0"/>
            <a:chExt cx="950976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95097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>
                  <a:solidFill>
                    <a:srgbClr val="2F24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Keterbatasan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784080" y="3865245"/>
            <a:ext cx="7132320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Fitur lokasi dan tipe rumah belum dipakai.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Outlier belum ditangani.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Rooms dan Bathroom saling berkaitan.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Distribusi Price menceng, tidak ditransformasi.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4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13691" y="993143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b="true" sz="5600">
                  <a:solidFill>
                    <a:srgbClr val="FEFEF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Kesimpulan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55932" y="2456183"/>
            <a:ext cx="14677588" cy="3828458"/>
            <a:chOff x="0" y="0"/>
            <a:chExt cx="19570117" cy="51046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70038" cy="5104561"/>
            </a:xfrm>
            <a:custGeom>
              <a:avLst/>
              <a:gdLst/>
              <a:ahLst/>
              <a:cxnLst/>
              <a:rect r="r" b="b" t="t" l="l"/>
              <a:pathLst>
                <a:path h="5104561" w="19570038">
                  <a:moveTo>
                    <a:pt x="0" y="137948"/>
                  </a:moveTo>
                  <a:cubicBezTo>
                    <a:pt x="0" y="61779"/>
                    <a:pt x="97587" y="0"/>
                    <a:pt x="217902" y="0"/>
                  </a:cubicBezTo>
                  <a:lnTo>
                    <a:pt x="19352137" y="0"/>
                  </a:lnTo>
                  <a:cubicBezTo>
                    <a:pt x="19472452" y="0"/>
                    <a:pt x="19570038" y="61779"/>
                    <a:pt x="19570038" y="137948"/>
                  </a:cubicBezTo>
                  <a:lnTo>
                    <a:pt x="19570038" y="4966613"/>
                  </a:lnTo>
                  <a:cubicBezTo>
                    <a:pt x="19570038" y="5042781"/>
                    <a:pt x="19472452" y="5104561"/>
                    <a:pt x="19352137" y="5104561"/>
                  </a:cubicBezTo>
                  <a:lnTo>
                    <a:pt x="217902" y="5104561"/>
                  </a:lnTo>
                  <a:cubicBezTo>
                    <a:pt x="97587" y="5104649"/>
                    <a:pt x="0" y="5042853"/>
                    <a:pt x="0" y="4966613"/>
                  </a:cubicBezTo>
                  <a:close/>
                </a:path>
              </a:pathLst>
            </a:custGeom>
            <a:solidFill>
              <a:srgbClr val="917F6C"/>
            </a:solidFill>
            <a:ln w="25400" cap="sq">
              <a:solidFill>
                <a:srgbClr val="917F6C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3409682" y="3013491"/>
            <a:ext cx="12786371" cy="297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Data berisi 13.580 rumah dengan distribusi harga menceng ke kanan dan ada outlier.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Rooms, Bedroom2, dan Bathroom paling berkaitan dengan harga.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Preprocessing: imputasi median/modus, 6 fitur, split 80/20.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Regresi linear menghasilkan R² 0,41 dan MAE sekitar 345 rb.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2F2416"/>
                </a:solidFill>
                <a:latin typeface="Calibri (MS)"/>
                <a:ea typeface="Calibri (MS)"/>
                <a:cs typeface="Calibri (MS)"/>
                <a:sym typeface="Calibri (MS)"/>
              </a:rPr>
              <a:t>Hasil ini baseline yang layak diperbaiki.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DAHXG4fUvg4</dc:identifier>
  <dcterms:modified xsi:type="dcterms:W3CDTF">2011-08-01T06:04:30Z</dcterms:modified>
  <cp:revision>1</cp:revision>
  <dc:title>Ummu badriyah mualifah-2488010082.pptx</dc:title>
</cp:coreProperties>
</file>